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67" r:id="rId13"/>
    <p:sldId id="269" r:id="rId14"/>
    <p:sldId id="268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0DC436-F58C-0D79-4A1A-F3448E0F3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AEB80AD-3726-5957-A408-9288865DCE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B5F2972-B2C5-9822-D616-0687EEE04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7F18D65-AC86-C860-EEEF-71888110A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46A606-538B-15E5-D6E8-D72197616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74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D49679-34C1-CA3B-07BB-55B32A916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B5F91-65D4-6328-7D99-7D046AC2CB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6BE126-393C-D1A8-C150-F0B04800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25D4580-53A9-982B-BC38-1DB2FE7F1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F35A44-F953-54CB-D215-F7BF45936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3013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E6C108-6937-9136-9372-9C9C5757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96ACB38-417D-E1BA-9C4D-9D197E6DD9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52BA38E-92AA-903C-7967-9BD16DBD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C1A8058-1E2B-FAD7-A981-7253C136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8D0AF24-3E46-EB54-26D5-14D8C481B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8304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313E78-2CD7-0400-436C-0545C0B99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A7ACA-A321-5692-B9BB-DA995F147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8878C17-A863-E10D-0990-880D804F96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F152E92-65B1-DF34-5C40-9DC760370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C9732DF-06D4-5145-E787-6830EE2E9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C299A16-0759-B61D-659B-662014010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9597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F53485-3DD0-5298-5B9D-071BB7C3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25913F6-4882-29B0-7AE3-67A02B52ED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6596A5A-ED63-32CF-982A-A8798F95EA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1422FC7-05BB-3514-AE50-41EE95C155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38C8674-B905-A7B6-389B-544037E3B56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E969B59-C7A0-2A4A-376D-0F50E6CEA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5630EEA-C607-A285-7786-6A0125D3E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2F4E26F-95FF-21E1-2A7D-6AFF49DD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480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ACE3E7-7F21-585A-D31A-0550D5B9C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59768D8-8C0A-49AF-6806-40CC32154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4653E0F-F86F-5F77-B265-51D75B6CD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2F49C2-9242-685D-4AC8-5FC05C0BD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8921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5B3326F-E4DC-E3F5-D3D4-1F3314B34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E80138-F1E7-A453-B9B6-E8E62ED2B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19E1E8D-94F3-6A51-D673-47B09FE5F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9020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B36756-CDDF-572E-41F8-CB1A23EE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44F5C8B-F51A-8DDC-9934-162DEC308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5D4419D-A57B-2744-4556-43D5801CD6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F9C6708-1993-2167-41CA-C1555E25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6530839-51EF-4034-0847-2BF958399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EC4B98B-F74D-E1D1-63B9-5ED9CA270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00430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F7E9C4-409A-D4E9-B1EA-C5E6456EB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6D79FC9-5458-0B98-7025-BE6F97688C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23CA33F-2FCD-6468-C814-16F51976B5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B936B72-99E8-F5DE-8E59-4ECFE8A46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42032B5-DEDD-3C96-14AF-6B1B0B872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2963A12-6624-C386-77DB-B4F1191F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398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D32233-D358-504C-777E-BFC79BA5B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EB066C1-CBC5-3E79-ED41-0E55142488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8BE759-643A-57A4-F3ED-37190F6D2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CFF3C58-3111-3429-957C-57C19F398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41CA68-CCA8-8C7B-46AD-D92C7932D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331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1C50D351-9CB4-168B-2930-99662CA4D16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04A43C8-92E2-0A1A-4EC7-18D985214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28664F-8F45-0B80-93CD-0474A12231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901190-733E-374B-948A-5039259B4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A6747D5-51B6-6FCA-B4DB-1A18A7FF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330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427DCD-0DB2-3FD5-F4EC-9E528D7F4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20A575-C324-4D9A-4B85-A439330D9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717C2D-AD71-CA72-E169-55A5A4AF9B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540967-1A3F-4985-BEB9-5750A2AAF6C0}" type="datetimeFigureOut">
              <a:rPr lang="ru-RU" smtClean="0"/>
              <a:t>18.12.2025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B1DD75-8DBF-9855-317C-AC5D26F04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83A4AE3-C480-CEB7-1CEA-6FB4255CD5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DA56E1-8E83-4467-97E3-38999C74C6B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66831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caac280a.us1a.app.preset.io/superset/dashboard/17/?native_filters_key=bolIP850bp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C741F56-76A8-1DD7-4A93-4E55809A0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54179"/>
            <a:ext cx="9144000" cy="949642"/>
          </a:xfrm>
        </p:spPr>
        <p:txBody>
          <a:bodyPr/>
          <a:lstStyle/>
          <a:p>
            <a:r>
              <a:rPr lang="ru-RU" dirty="0"/>
              <a:t>Проект «Онлайн-школа»</a:t>
            </a:r>
          </a:p>
        </p:txBody>
      </p:sp>
    </p:spTree>
    <p:extLst>
      <p:ext uri="{BB962C8B-B14F-4D97-AF65-F5344CB8AC3E}">
        <p14:creationId xmlns:p14="http://schemas.microsoft.com/office/powerpoint/2010/main" val="1381902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6F7F49C-1BC0-CFD6-BB92-D0D4FE3BF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84938"/>
            <a:ext cx="10515600" cy="1688123"/>
          </a:xfrm>
        </p:spPr>
        <p:txBody>
          <a:bodyPr>
            <a:normAutofit fontScale="90000"/>
          </a:bodyPr>
          <a:lstStyle/>
          <a:p>
            <a:r>
              <a:rPr lang="ru-RU" sz="2400" dirty="0"/>
              <a:t>Данный </a:t>
            </a:r>
            <a:r>
              <a:rPr lang="ru-RU" sz="2400" dirty="0" err="1"/>
              <a:t>дашборд</a:t>
            </a:r>
            <a:r>
              <a:rPr lang="ru-RU" sz="2400" dirty="0"/>
              <a:t> создан для маркетинговой команды, он призван помочь им отследить качество трафика и ответить на вопросы по конверсии, затратам и основным метрикам: CPU (стоимость привлечения пользователя), CPL (стоимость </a:t>
            </a:r>
            <a:r>
              <a:rPr lang="ru-RU" sz="2400" dirty="0" err="1"/>
              <a:t>лида</a:t>
            </a:r>
            <a:r>
              <a:rPr lang="ru-RU" sz="2400" dirty="0"/>
              <a:t>), CPPU (стоимость платящего клиента), ROI (окупаемость инвестиций)</a:t>
            </a:r>
            <a:br>
              <a:rPr lang="ru-RU" sz="2400" dirty="0"/>
            </a:b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2007703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BE6F36-57BC-D009-687D-554B7EE2E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Количество посетителей</a:t>
            </a:r>
          </a:p>
        </p:txBody>
      </p:sp>
      <p:pic>
        <p:nvPicPr>
          <p:cNvPr id="8" name="Рисунок 7" descr="Изображение выглядит как текст, Шрифт, белый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8A46C6E2-9BDC-E7B7-F73D-FE92909EC1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4" b="57506"/>
          <a:stretch/>
        </p:blipFill>
        <p:spPr>
          <a:xfrm>
            <a:off x="838200" y="3427467"/>
            <a:ext cx="3874477" cy="651082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Шрифт, белый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C1C7BD8-5001-5ABF-802F-5F750428F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404" r="53619" b="57506"/>
          <a:stretch/>
        </p:blipFill>
        <p:spPr>
          <a:xfrm>
            <a:off x="838200" y="2410948"/>
            <a:ext cx="1797040" cy="65108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16D670-DE03-F403-E99D-AF853C2D2F95}"/>
              </a:ext>
            </a:extLst>
          </p:cNvPr>
          <p:cNvSpPr txBox="1"/>
          <p:nvPr/>
        </p:nvSpPr>
        <p:spPr>
          <a:xfrm>
            <a:off x="4839286" y="2274823"/>
            <a:ext cx="675366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Всего сайт за указанный период посетило 169 тысяч уникальных пользователей из 233 тысяч общих посещений, что свидетельствует о повторном возвращении части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260787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FB099-E3EE-F166-7E51-8E52622038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Уникальные визиты по источнику</a:t>
            </a:r>
          </a:p>
        </p:txBody>
      </p:sp>
      <p:pic>
        <p:nvPicPr>
          <p:cNvPr id="5" name="Объект 4" descr="Изображение выглядит как диаграмма, текст, снимок экрана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F63E8757-4F04-785D-C48C-2DA6EC9E0D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42" t="20291" r="28506"/>
          <a:stretch/>
        </p:blipFill>
        <p:spPr>
          <a:xfrm>
            <a:off x="1844277" y="1690688"/>
            <a:ext cx="7940274" cy="4511846"/>
          </a:xfr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CDA9EE-D6B4-A272-9A00-1AF162BE9EBD}"/>
              </a:ext>
            </a:extLst>
          </p:cNvPr>
          <p:cNvSpPr txBox="1"/>
          <p:nvPr/>
        </p:nvSpPr>
        <p:spPr>
          <a:xfrm>
            <a:off x="838200" y="5279204"/>
            <a:ext cx="1051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ru-RU" dirty="0">
                <a:latin typeface="hh sans"/>
              </a:rPr>
            </a:br>
            <a:r>
              <a:rPr lang="ru-RU" dirty="0">
                <a:latin typeface="hh sans"/>
              </a:rPr>
              <a:t>Большинство посетителей </a:t>
            </a:r>
            <a:r>
              <a:rPr lang="ru-RU" dirty="0">
                <a:latin typeface="+mj-lt"/>
              </a:rPr>
              <a:t>приходит из</a:t>
            </a:r>
            <a:r>
              <a:rPr lang="ru-RU" dirty="0">
                <a:latin typeface="hh sans"/>
              </a:rPr>
              <a:t> 4 каналов, остальные каналы привлекли менее 5</a:t>
            </a:r>
            <a:r>
              <a:rPr lang="en-US" dirty="0">
                <a:latin typeface="hh sans"/>
              </a:rPr>
              <a:t>%</a:t>
            </a:r>
            <a:br>
              <a:rPr lang="ru-RU" dirty="0">
                <a:latin typeface="hh sans"/>
              </a:rPr>
            </a:br>
            <a:r>
              <a:rPr lang="ru-RU" dirty="0">
                <a:latin typeface="hh sans"/>
              </a:rPr>
              <a:t>Яндекс за указанный период привлек незначительно больше уникальных посетителей чем ВК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790179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A044FA-2318-E098-B41C-C520921B9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Ежедневная статистика привлечения пользователей</a:t>
            </a:r>
          </a:p>
        </p:txBody>
      </p:sp>
      <p:pic>
        <p:nvPicPr>
          <p:cNvPr id="5" name="Объект 4" descr="Изображение выглядит как текст, График, линия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E6AD5417-7F72-BBC5-96D1-75892FDA22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17" t="13686" r="4540" b="5174"/>
          <a:stretch/>
        </p:blipFill>
        <p:spPr>
          <a:xfrm>
            <a:off x="0" y="1844150"/>
            <a:ext cx="12140353" cy="3587260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8BCC8B4-81A4-1691-0BB4-C923E90DF1DE}"/>
              </a:ext>
            </a:extLst>
          </p:cNvPr>
          <p:cNvSpPr txBox="1"/>
          <p:nvPr/>
        </p:nvSpPr>
        <p:spPr>
          <a:xfrm>
            <a:off x="838200" y="5584873"/>
            <a:ext cx="1051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 ежедневной статистике отчетливо видно, что главным источником привлечения на протяжении всего отчетного периода является </a:t>
            </a:r>
            <a:r>
              <a:rPr lang="en-US" dirty="0"/>
              <a:t>– Google</a:t>
            </a:r>
            <a:r>
              <a:rPr lang="ru-RU" dirty="0"/>
              <a:t>. Так же видно регресс привлечения канала ВК к концу месяца</a:t>
            </a:r>
          </a:p>
        </p:txBody>
      </p:sp>
    </p:spTree>
    <p:extLst>
      <p:ext uri="{BB962C8B-B14F-4D97-AF65-F5344CB8AC3E}">
        <p14:creationId xmlns:p14="http://schemas.microsoft.com/office/powerpoint/2010/main" val="2949733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703C6-0182-0B66-C05C-FC79B8BF2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Еженедельная статистика привлечения пользователей</a:t>
            </a:r>
          </a:p>
        </p:txBody>
      </p:sp>
      <p:pic>
        <p:nvPicPr>
          <p:cNvPr id="5" name="Объект 4" descr="Изображение выглядит как текст, линия, График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491D79F7-B41B-AC78-9E51-06CD17902C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558"/>
          <a:stretch/>
        </p:blipFill>
        <p:spPr>
          <a:xfrm>
            <a:off x="31156" y="2351503"/>
            <a:ext cx="12129687" cy="2937950"/>
          </a:xfrm>
        </p:spPr>
      </p:pic>
    </p:spTree>
    <p:extLst>
      <p:ext uri="{BB962C8B-B14F-4D97-AF65-F5344CB8AC3E}">
        <p14:creationId xmlns:p14="http://schemas.microsoft.com/office/powerpoint/2010/main" val="14216927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440AEB-72C5-2F6C-42AD-55A0A9598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Конверсии</a:t>
            </a:r>
          </a:p>
        </p:txBody>
      </p:sp>
      <p:pic>
        <p:nvPicPr>
          <p:cNvPr id="7" name="Объект 6" descr="Изображение выглядит как текст, Шрифт, белый, дизайн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DC28CAAA-37A3-8944-46E3-DCBE5882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903" r="41006" b="44752"/>
          <a:stretch/>
        </p:blipFill>
        <p:spPr>
          <a:xfrm>
            <a:off x="1011936" y="2267252"/>
            <a:ext cx="1806525" cy="797707"/>
          </a:xfrm>
        </p:spPr>
      </p:pic>
      <p:pic>
        <p:nvPicPr>
          <p:cNvPr id="9" name="Рисунок 8" descr="Изображение выглядит как текст, Шрифт, белый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74C932C-56D6-0D5C-F737-CAFCEC2E93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25" r="19144" b="44752"/>
          <a:stretch/>
        </p:blipFill>
        <p:spPr>
          <a:xfrm>
            <a:off x="1011936" y="3429000"/>
            <a:ext cx="2575326" cy="777842"/>
          </a:xfrm>
          <a:prstGeom prst="rect">
            <a:avLst/>
          </a:prstGeom>
        </p:spPr>
      </p:pic>
      <p:pic>
        <p:nvPicPr>
          <p:cNvPr id="4" name="Рисунок 3" descr="Изображение выглядит как текст, Шрифт, белый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2FBBED46-2FBD-40A4-E62B-3608807FA0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230" b="42327"/>
          <a:stretch/>
        </p:blipFill>
        <p:spPr>
          <a:xfrm>
            <a:off x="1011936" y="4570883"/>
            <a:ext cx="3236507" cy="84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5DE6F9-9472-1A3B-7224-70EACE5322C6}"/>
              </a:ext>
            </a:extLst>
          </p:cNvPr>
          <p:cNvSpPr txBox="1"/>
          <p:nvPr/>
        </p:nvSpPr>
        <p:spPr>
          <a:xfrm>
            <a:off x="4825218" y="2267252"/>
            <a:ext cx="65285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За отчетный период сайт посетили 169 тысяч уникальных пользователей, из которых около 1,3 тысячи были сконвертированы в </a:t>
            </a:r>
            <a:r>
              <a:rPr lang="ru-RU" dirty="0" err="1"/>
              <a:t>лиды</a:t>
            </a:r>
            <a:br>
              <a:rPr lang="ru-RU" dirty="0"/>
            </a:br>
            <a:r>
              <a:rPr lang="ru-RU" dirty="0"/>
              <a:t>Данный показатель может использоваться в качестве базового ориентира для сравнения эффективности привлечения трафика в последующих отчетных периодах</a:t>
            </a:r>
          </a:p>
        </p:txBody>
      </p:sp>
    </p:spTree>
    <p:extLst>
      <p:ext uri="{BB962C8B-B14F-4D97-AF65-F5344CB8AC3E}">
        <p14:creationId xmlns:p14="http://schemas.microsoft.com/office/powerpoint/2010/main" val="13879632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13D15A-C558-D7CD-AB23-74900FF86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Ежедневные затраты на каналы Яндекс и ВК</a:t>
            </a:r>
          </a:p>
        </p:txBody>
      </p:sp>
      <p:pic>
        <p:nvPicPr>
          <p:cNvPr id="5" name="Объект 4" descr="Изображение выглядит как текст, линия, График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0E313F09-CD92-0E20-63D0-D3900A77F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343"/>
          <a:stretch/>
        </p:blipFill>
        <p:spPr>
          <a:xfrm>
            <a:off x="10847" y="1975806"/>
            <a:ext cx="12170306" cy="3798277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0D0EE72-71D0-6257-C997-8B628DC3DC06}"/>
              </a:ext>
            </a:extLst>
          </p:cNvPr>
          <p:cNvSpPr txBox="1"/>
          <p:nvPr/>
        </p:nvSpPr>
        <p:spPr>
          <a:xfrm>
            <a:off x="838200" y="5619129"/>
            <a:ext cx="102518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Рекламные затраты на канал Яндекс за отчетный период существенно превышают затраты на канал ВК</a:t>
            </a:r>
          </a:p>
        </p:txBody>
      </p:sp>
    </p:spTree>
    <p:extLst>
      <p:ext uri="{BB962C8B-B14F-4D97-AF65-F5344CB8AC3E}">
        <p14:creationId xmlns:p14="http://schemas.microsoft.com/office/powerpoint/2010/main" val="1392273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5EE2E3-BE23-9FD5-8E4D-DB574557D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Стоимость и прибыль каналов Яндекс и ВК</a:t>
            </a:r>
          </a:p>
        </p:txBody>
      </p:sp>
      <p:pic>
        <p:nvPicPr>
          <p:cNvPr id="5" name="Объект 4" descr="Изображение выглядит как текс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C10D6463-E5DC-92BB-4318-CA6173D83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3" b="7649"/>
          <a:stretch/>
        </p:blipFill>
        <p:spPr>
          <a:xfrm>
            <a:off x="838200" y="1937824"/>
            <a:ext cx="10467975" cy="298235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0F5141B-5B8F-66F9-0CF4-B8BD9AEA70EE}"/>
              </a:ext>
            </a:extLst>
          </p:cNvPr>
          <p:cNvSpPr txBox="1"/>
          <p:nvPr/>
        </p:nvSpPr>
        <p:spPr>
          <a:xfrm>
            <a:off x="838200" y="5466716"/>
            <a:ext cx="99894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На основе анализа затрат и полученной прибыли можно сделать вывод, что канал ВК демонстрирует более высокую окупаемость инвестиций за отчетный период</a:t>
            </a:r>
          </a:p>
        </p:txBody>
      </p:sp>
    </p:spTree>
    <p:extLst>
      <p:ext uri="{BB962C8B-B14F-4D97-AF65-F5344CB8AC3E}">
        <p14:creationId xmlns:p14="http://schemas.microsoft.com/office/powerpoint/2010/main" val="27681064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696C70-D778-E5A2-5933-87D9F4C91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Конверсия в </a:t>
            </a:r>
            <a:r>
              <a:rPr lang="ru-RU" dirty="0" err="1"/>
              <a:t>лид</a:t>
            </a:r>
            <a:r>
              <a:rPr lang="ru-RU" dirty="0"/>
              <a:t> и продажу</a:t>
            </a:r>
          </a:p>
        </p:txBody>
      </p:sp>
      <p:pic>
        <p:nvPicPr>
          <p:cNvPr id="5" name="Объект 4" descr="Изображение выглядит как текст, линия, Шрифт, снимок экран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608442C2-A37D-F273-D352-D7E54F1EE8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23" b="13052"/>
          <a:stretch/>
        </p:blipFill>
        <p:spPr>
          <a:xfrm>
            <a:off x="838200" y="1796104"/>
            <a:ext cx="10553513" cy="3265791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FDCA96-8681-6056-AE7B-24653D771628}"/>
              </a:ext>
            </a:extLst>
          </p:cNvPr>
          <p:cNvSpPr txBox="1"/>
          <p:nvPr/>
        </p:nvSpPr>
        <p:spPr>
          <a:xfrm>
            <a:off x="838200" y="5502454"/>
            <a:ext cx="9790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 этом конверсия в </a:t>
            </a:r>
            <a:r>
              <a:rPr lang="ru-RU" dirty="0" err="1"/>
              <a:t>лид</a:t>
            </a:r>
            <a:r>
              <a:rPr lang="ru-RU" dirty="0"/>
              <a:t> и в оплату у канала Яндекс выше, чем у ВК</a:t>
            </a:r>
          </a:p>
        </p:txBody>
      </p:sp>
    </p:spTree>
    <p:extLst>
      <p:ext uri="{BB962C8B-B14F-4D97-AF65-F5344CB8AC3E}">
        <p14:creationId xmlns:p14="http://schemas.microsoft.com/office/powerpoint/2010/main" val="13534409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4F9823-29D0-922F-6D98-9D2724A585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метрики</a:t>
            </a:r>
          </a:p>
        </p:txBody>
      </p:sp>
      <p:pic>
        <p:nvPicPr>
          <p:cNvPr id="5" name="Объект 4" descr="Изображение выглядит как текст, снимок экрана, диаграмма, линия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73375FF9-4120-E2C9-9F3C-D947F93EC8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983" r="6090" b="55559"/>
          <a:stretch/>
        </p:blipFill>
        <p:spPr>
          <a:xfrm>
            <a:off x="167148" y="2649508"/>
            <a:ext cx="11857703" cy="1558984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0F8CC0-7B44-BE48-E3A3-ECE68422FDC4}"/>
              </a:ext>
            </a:extLst>
          </p:cNvPr>
          <p:cNvSpPr txBox="1"/>
          <p:nvPr/>
        </p:nvSpPr>
        <p:spPr>
          <a:xfrm>
            <a:off x="838200" y="5167312"/>
            <a:ext cx="98724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Стоимость привлечения пользователя (CPU), </a:t>
            </a:r>
            <a:r>
              <a:rPr lang="ru-RU" dirty="0" err="1"/>
              <a:t>лида</a:t>
            </a:r>
            <a:r>
              <a:rPr lang="ru-RU" dirty="0"/>
              <a:t> (CPL) и платящего клиента (CPPU) у канала Яндекс выше, чем у ВК, что свидетельствует о более эффективном расходовании рекламного бюджета в канале ВК</a:t>
            </a:r>
          </a:p>
        </p:txBody>
      </p:sp>
    </p:spTree>
    <p:extLst>
      <p:ext uri="{BB962C8B-B14F-4D97-AF65-F5344CB8AC3E}">
        <p14:creationId xmlns:p14="http://schemas.microsoft.com/office/powerpoint/2010/main" val="447495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8BDC35-B7B4-2111-CC9B-3488A5C1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данные по каналам</a:t>
            </a:r>
          </a:p>
        </p:txBody>
      </p:sp>
      <p:pic>
        <p:nvPicPr>
          <p:cNvPr id="35" name="Объект 34" descr="Изображение выглядит как текст, число, снимок экрана, диаграмма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B363CD5C-F4C9-7265-7A90-D5A42E967A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93" b="4831"/>
          <a:stretch/>
        </p:blipFill>
        <p:spPr>
          <a:xfrm>
            <a:off x="328245" y="1395385"/>
            <a:ext cx="11760591" cy="5462615"/>
          </a:xfrm>
        </p:spPr>
      </p:pic>
    </p:spTree>
    <p:extLst>
      <p:ext uri="{BB962C8B-B14F-4D97-AF65-F5344CB8AC3E}">
        <p14:creationId xmlns:p14="http://schemas.microsoft.com/office/powerpoint/2010/main" val="18547607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FC2EAF-CEBF-7508-113B-DAC019E67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AD79968-6F6C-ABBD-C8A3-7C9E98AC0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sz="1800" dirty="0"/>
              <a:t>Несмотря на меньший объем трафика по сравнению с Яндексом, ВК демонстрирует лучшую окупаемость инвестиций: ниже CPU, CPL и CPPU, выше возврат инвестиций на вложенный бюджет. ВК — наиболее эффективный канал с точки зрения экономики</a:t>
            </a:r>
          </a:p>
          <a:p>
            <a:r>
              <a:rPr lang="ru-RU" sz="1800" dirty="0"/>
              <a:t>Стоит обдумать вопрос снижения/прекращения затрат на каналы в сумме привлекшие менее 5 процентов от общего числа пользователей</a:t>
            </a:r>
          </a:p>
          <a:p>
            <a:r>
              <a:rPr lang="ru-RU" sz="1800" dirty="0"/>
              <a:t>Рассмотреть возможность аккуратного масштабирования канала ВК, т.к. он хорошо возвращает инвестиции</a:t>
            </a:r>
          </a:p>
          <a:p>
            <a:r>
              <a:rPr lang="ru-RU" sz="1800" dirty="0"/>
              <a:t>Подумать об оптимизации затрат на канал Яндекс, у него лучшая конверсия в </a:t>
            </a:r>
            <a:r>
              <a:rPr lang="ru-RU" sz="1800" dirty="0" err="1"/>
              <a:t>лид</a:t>
            </a:r>
            <a:r>
              <a:rPr lang="ru-RU" sz="1800" dirty="0"/>
              <a:t> и оплату, но более дорогое привлечение </a:t>
            </a:r>
          </a:p>
          <a:p>
            <a:r>
              <a:rPr lang="ru-RU" sz="1800" dirty="0"/>
              <a:t>Большинство </a:t>
            </a:r>
            <a:r>
              <a:rPr lang="ru-RU" sz="1800" dirty="0" err="1"/>
              <a:t>лидов</a:t>
            </a:r>
            <a:r>
              <a:rPr lang="ru-RU" sz="1800" dirty="0"/>
              <a:t> закрывается в течение первых дней после перехода по рекламе, это означает, что </a:t>
            </a:r>
            <a:r>
              <a:rPr lang="ru-RU" sz="1800" dirty="0" err="1"/>
              <a:t>дашборд</a:t>
            </a:r>
            <a:r>
              <a:rPr lang="ru-RU" sz="1800" dirty="0"/>
              <a:t> можно использовать уже через 1–2 недели после запуска кампании, маркетинг может принимать решения оперативно, не дожидаясь конца месяца </a:t>
            </a:r>
          </a:p>
          <a:p>
            <a:r>
              <a:rPr lang="ru-RU" sz="1800" dirty="0"/>
              <a:t>Исходя из того, что в период рекламной компании органические визиты не падали, можно сделать выводы о узнаваемости бренда и, вероятно, отложенных органических визитах после рекламы</a:t>
            </a:r>
          </a:p>
        </p:txBody>
      </p:sp>
    </p:spTree>
    <p:extLst>
      <p:ext uri="{BB962C8B-B14F-4D97-AF65-F5344CB8AC3E}">
        <p14:creationId xmlns:p14="http://schemas.microsoft.com/office/powerpoint/2010/main" val="25484858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AF93D-5B46-449E-80F7-60391BC49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Ссылка на </a:t>
            </a:r>
            <a:r>
              <a:rPr lang="ru-RU" dirty="0" err="1"/>
              <a:t>дашборд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25A3CE-7F96-C84B-A412-14F0DD890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https://caac280a.us1a.app.preset.io/superset/dashboard/17/?native_filters_key=bolIP850bpk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78363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</TotalTime>
  <Words>485</Words>
  <Application>Microsoft Office PowerPoint</Application>
  <PresentationFormat>Широкоэкранный</PresentationFormat>
  <Paragraphs>29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hh sans</vt:lpstr>
      <vt:lpstr>Тема Office</vt:lpstr>
      <vt:lpstr>Проект «Онлайн-школа»</vt:lpstr>
      <vt:lpstr>Данный дашборд создан для маркетинговой команды, он призван помочь им отследить качество трафика и ответить на вопросы по конверсии, затратам и основным метрикам: CPU (стоимость привлечения пользователя), CPL (стоимость лида), CPPU (стоимость платящего клиента), ROI (окупаемость инвестиций) </vt:lpstr>
      <vt:lpstr>Количество посетителей</vt:lpstr>
      <vt:lpstr>Уникальные визиты по источнику</vt:lpstr>
      <vt:lpstr>Ежедневная статистика привлечения пользователей</vt:lpstr>
      <vt:lpstr>Еженедельная статистика привлечения пользователей</vt:lpstr>
      <vt:lpstr>Конверсии</vt:lpstr>
      <vt:lpstr>Ежедневные затраты на каналы Яндекс и ВК</vt:lpstr>
      <vt:lpstr>Стоимость и прибыль каналов Яндекс и ВК</vt:lpstr>
      <vt:lpstr>Конверсия в лид и продажу</vt:lpstr>
      <vt:lpstr>Основные метрики</vt:lpstr>
      <vt:lpstr>Основные данные по каналам</vt:lpstr>
      <vt:lpstr>Выводы</vt:lpstr>
      <vt:lpstr>Ссылка на дашборд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Artem Anisimov</dc:creator>
  <cp:lastModifiedBy>Artem Anisimov</cp:lastModifiedBy>
  <cp:revision>7</cp:revision>
  <dcterms:created xsi:type="dcterms:W3CDTF">2025-12-17T17:35:12Z</dcterms:created>
  <dcterms:modified xsi:type="dcterms:W3CDTF">2025-12-18T17:45:24Z</dcterms:modified>
</cp:coreProperties>
</file>